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2C3C-8FD0-74DC-56A4-60A4ECFE2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C367E-C35C-B3FC-13C9-9930C8E62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77F9-A28C-2DDF-CDE5-9789515F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FE438-0434-9E85-1016-500D5099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DFD0F-2D45-2830-8A57-F0DD0198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15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0A3A-4968-4631-51E1-1DB73EDC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7EDD-5046-A4C1-1EBF-AD9CD176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5A8D-1E9A-10F1-C113-E5E9D593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82B0D-0A46-AC9E-340A-5697E7E94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9571A-202F-7FFC-D0DB-460CEF5C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36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4AA5-2047-2A6F-03A7-B589B078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0B3B9-C165-F936-7017-67DB8C533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374DB-B3EA-802C-E1B3-FD4D0978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1C6D4-CF6B-3FCC-92E3-AFF26B85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5242-D8D0-0811-57E9-1EFBA150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78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1478-F945-F908-9BB6-ABCC6936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7328C-36B4-F83D-86C9-34A40F227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9B2D8-E293-F795-FA74-EB21FF2D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526F0-3A98-30E7-6990-26AE5766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0EBB1-B3D6-FB00-0721-12A19CE6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21472-9C91-9CA9-26A9-706FD8B7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73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6482-EFF1-5E93-B305-853F3235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AF35-F6AC-6262-D12F-2C63665B3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65224-8DC8-E640-B2A7-2EF5E1E45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91B0E-18E1-89FF-B173-6982AE5DC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4EEA9-BA7B-098A-621F-C68262D6A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6EE31-7756-44D6-C3B9-7C77FD64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3470-E59B-02D0-DDEE-0605D888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8EC69-CF46-9CC3-5783-55160AD9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8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7C4D-7CA3-025C-6016-53E4022F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6025AF-90D9-7E3C-D639-32A6AE76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E2292-A3C2-B3CA-E4E3-8A8F158C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D2B4C-AD70-1F6D-2452-62F89712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531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6EBB3-2877-431C-B4E5-F1F7EA50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73775-3D8D-613E-83F5-4AE1313A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0E65E-A0D8-53ED-4389-E468EF57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5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9527-1CB8-70A1-20D6-3E12D603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8BDAC-E63E-8816-719B-0D52BD22A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B5438-9098-8773-BE94-71BB2FA77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1680F-5C55-2B03-A00C-E97A5533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DCBBB-DA44-CCC1-8A51-7E02D5C4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0A8E8-7B45-A56F-E142-00F9B6D5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76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3E18-AA34-A099-1A50-CE466D4A3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15D16-CAE1-4AC3-B40B-A6651906D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128A9-C3C7-54CC-2CA8-9872F2ECE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8F5E9-B4BB-572E-D302-69EF3853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EAA36-93D1-ACE0-E71F-B96EE2D5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F03A3-E98D-E9D9-2D3C-71F7E9EB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66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CA12-FFCC-01C0-B2EE-42186A63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44E8A-6A45-EDA3-BA31-2BF1A0077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7CFD5-9405-4F39-6CF8-0F28B931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21DD9-9FE5-3014-8F09-8FB32D3D2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3CA59-5259-C5C8-D0F2-0B5ECE0F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22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790D37-4BC8-49FD-A206-DFFC00B9E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5798A-76DB-CE51-64D7-969536C1A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3746A-F4DD-14B5-EAE3-A007E68C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A48FB-CE78-8A78-48FB-5993C335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5920-7A8F-C40D-0EE1-06A0DB53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0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E1ACF-84E5-DB6C-B258-AE99B823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9B449-5A0A-9665-9D8F-BBD5B2A7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8990A-5F74-B239-D236-7F297C400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D483-357A-4AFC-9744-08AE7E7A9B5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D65DD-A398-BD26-B6F3-414F500B3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0CCB-30D6-5D6A-8188-C86A031DF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D1CBD-9565-4078-9709-C99202F05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63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1EC2-E98E-3939-6C03-435FCDDFE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1200" y="1452274"/>
            <a:ext cx="5689600" cy="165576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Reducing Missed Appointments in Brazilian Public Health Clinics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58798-5404-D047-6A55-B93C774A8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964"/>
            <a:ext cx="9144000" cy="2706253"/>
          </a:xfrm>
        </p:spPr>
        <p:txBody>
          <a:bodyPr>
            <a:normAutofit/>
          </a:bodyPr>
          <a:lstStyle/>
          <a:p>
            <a:r>
              <a:rPr lang="en-GB" dirty="0"/>
              <a:t>A data-driven analysis of appointment no-shows in Vitória, Brazil — and what clinics can do about them.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Prepared by: Suyog Wagle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2935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06C1-C908-CF13-CE76-E7B196D7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problem wasting resources every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8DBFC-C82C-44B3-3AFF-132A8A41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Missed appointments waste clinic resources, strain staff capacity, and delay critical care for patients waiting in line.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A66EC-EC6A-3938-0F89-4C270F1C7697}"/>
              </a:ext>
            </a:extLst>
          </p:cNvPr>
          <p:cNvSpPr/>
          <p:nvPr/>
        </p:nvSpPr>
        <p:spPr>
          <a:xfrm>
            <a:off x="8878455" y="4736089"/>
            <a:ext cx="2475345" cy="14408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No-show rate- </a:t>
            </a:r>
            <a:r>
              <a:rPr lang="en-GB" sz="2400" dirty="0"/>
              <a:t>20.19%</a:t>
            </a:r>
          </a:p>
          <a:p>
            <a:pPr algn="ctr"/>
            <a:r>
              <a:rPr lang="en-GB" dirty="0"/>
              <a:t>1 in 5 patients misses their appointment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B87401-47BF-9375-7DE3-E116D54495C5}"/>
              </a:ext>
            </a:extLst>
          </p:cNvPr>
          <p:cNvSpPr/>
          <p:nvPr/>
        </p:nvSpPr>
        <p:spPr>
          <a:xfrm>
            <a:off x="838200" y="4736089"/>
            <a:ext cx="2946401" cy="14408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Mised appointments- </a:t>
            </a:r>
            <a:r>
              <a:rPr lang="en-GB" sz="2400" dirty="0"/>
              <a:t>22K+</a:t>
            </a:r>
          </a:p>
          <a:p>
            <a:pPr algn="ctr"/>
            <a:r>
              <a:rPr lang="en-GB" dirty="0"/>
              <a:t>out of approx. 110K total records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3BC95-905D-E380-33A7-265A12CD9C02}"/>
              </a:ext>
            </a:extLst>
          </p:cNvPr>
          <p:cNvSpPr/>
          <p:nvPr/>
        </p:nvSpPr>
        <p:spPr>
          <a:xfrm>
            <a:off x="4756728" y="2977356"/>
            <a:ext cx="2678544" cy="14408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Total Records – </a:t>
            </a:r>
            <a:r>
              <a:rPr lang="en-GB" sz="2400" dirty="0"/>
              <a:t>110K+</a:t>
            </a:r>
          </a:p>
          <a:p>
            <a:pPr algn="ctr"/>
            <a:r>
              <a:rPr lang="en-GB" dirty="0"/>
              <a:t>Appointments recorded from Vitoria, Brazil</a:t>
            </a:r>
          </a:p>
        </p:txBody>
      </p:sp>
    </p:spTree>
    <p:extLst>
      <p:ext uri="{BB962C8B-B14F-4D97-AF65-F5344CB8AC3E}">
        <p14:creationId xmlns:p14="http://schemas.microsoft.com/office/powerpoint/2010/main" val="318973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DD8A-8C38-409E-D9D8-663FBB28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9C819-38E5-996B-9471-44FC1D7A0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313439"/>
            <a:ext cx="10515600" cy="5179436"/>
          </a:xfrm>
        </p:spPr>
        <p:txBody>
          <a:bodyPr>
            <a:normAutofit/>
          </a:bodyPr>
          <a:lstStyle/>
          <a:p>
            <a:r>
              <a:rPr lang="en-GB" dirty="0"/>
              <a:t>Dataset</a:t>
            </a:r>
          </a:p>
          <a:p>
            <a:pPr lvl="1"/>
            <a:r>
              <a:rPr lang="en-GB" dirty="0"/>
              <a:t>Kaggle Medical Appointment No-Shows – 110,527 records from Vitoria, Brazil (2016)</a:t>
            </a:r>
          </a:p>
          <a:p>
            <a:r>
              <a:rPr lang="en-GB" dirty="0"/>
              <a:t>Tools</a:t>
            </a:r>
          </a:p>
          <a:p>
            <a:pPr lvl="1"/>
            <a:r>
              <a:rPr lang="en-GB" dirty="0"/>
              <a:t>MySQL for data cleaning and preparation </a:t>
            </a:r>
          </a:p>
          <a:p>
            <a:pPr lvl="1"/>
            <a:r>
              <a:rPr lang="en-GB" dirty="0"/>
              <a:t>Python for Exploratory Data Analysis </a:t>
            </a:r>
          </a:p>
          <a:p>
            <a:pPr lvl="1"/>
            <a:r>
              <a:rPr lang="en-GB" dirty="0"/>
              <a:t>Tableau for data visualization and reporting</a:t>
            </a:r>
          </a:p>
          <a:p>
            <a:r>
              <a:rPr lang="en-GB" dirty="0"/>
              <a:t>Key variables analysed</a:t>
            </a:r>
          </a:p>
          <a:p>
            <a:pPr lvl="1"/>
            <a:r>
              <a:rPr lang="en-GB" dirty="0"/>
              <a:t>Age, neighbourhood, waiting days, SMS reminders, and Bolsa Família scholarship status — structured around 4 stakeholder questions.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981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AF50-BF1B-F407-873F-10087C1B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1420" y="2766218"/>
            <a:ext cx="10515600" cy="1325563"/>
          </a:xfrm>
        </p:spPr>
        <p:txBody>
          <a:bodyPr/>
          <a:lstStyle/>
          <a:p>
            <a:r>
              <a:rPr lang="en-GB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80267-4157-8035-1FEF-F229383D1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6092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1DF5-01DD-CA19-78D0-21807720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Teenagers miss the most appointments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CD6AC-A8CC-37C5-790D-DBC545C0E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1455" y="1552576"/>
            <a:ext cx="7250545" cy="46899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0006BC-78A5-099A-A3F4-6087F9B0709D}"/>
              </a:ext>
            </a:extLst>
          </p:cNvPr>
          <p:cNvSpPr/>
          <p:nvPr/>
        </p:nvSpPr>
        <p:spPr>
          <a:xfrm>
            <a:off x="960582" y="1672216"/>
            <a:ext cx="3860800" cy="45517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Younger patients — particularly those </a:t>
            </a:r>
            <a:r>
              <a:rPr lang="en-GB" b="1" dirty="0"/>
              <a:t>under 20 </a:t>
            </a:r>
            <a:r>
              <a:rPr lang="en-GB" dirty="0"/>
              <a:t>— show the </a:t>
            </a:r>
            <a:r>
              <a:rPr lang="en-GB" b="1" dirty="0"/>
              <a:t>highest appointment no-show rates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School schedules, lack of autonomy, lower perceived urgency of preventive care might be the reasons for such high no-show rate.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346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F4A47-4B4D-FE46-06F4-47B184F76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Longer wait times drive higher no-show rates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06D7-25E9-4431-7A61-ACF223D33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11F6A-12BB-50BE-41BF-D92EBFA33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408" y="1690688"/>
            <a:ext cx="6672956" cy="4667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D00838-9BDE-8736-432C-B77B3B2C5751}"/>
              </a:ext>
            </a:extLst>
          </p:cNvPr>
          <p:cNvSpPr/>
          <p:nvPr/>
        </p:nvSpPr>
        <p:spPr>
          <a:xfrm>
            <a:off x="838200" y="1690688"/>
            <a:ext cx="4879109" cy="4562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As the gap between scheduled date and appointment date increases, so does the likelihood a patient will not show up. </a:t>
            </a:r>
          </a:p>
          <a:p>
            <a:pPr algn="ctr"/>
            <a:r>
              <a:rPr lang="en-GB" b="1" dirty="0"/>
              <a:t>Same day appointments </a:t>
            </a:r>
            <a:r>
              <a:rPr lang="en-GB" dirty="0"/>
              <a:t>have less than </a:t>
            </a:r>
            <a:r>
              <a:rPr lang="en-GB" b="1" dirty="0"/>
              <a:t>5% </a:t>
            </a:r>
            <a:r>
              <a:rPr lang="en-GB" dirty="0"/>
              <a:t>no show rate which drastically increases to </a:t>
            </a:r>
            <a:r>
              <a:rPr lang="en-GB" b="1" dirty="0"/>
              <a:t>24% </a:t>
            </a:r>
            <a:r>
              <a:rPr lang="en-GB" dirty="0"/>
              <a:t>for </a:t>
            </a:r>
            <a:r>
              <a:rPr lang="en-GB" b="1" dirty="0"/>
              <a:t>within a week appointments </a:t>
            </a:r>
            <a:r>
              <a:rPr lang="en-GB" dirty="0"/>
              <a:t>which signifies the need for more same day appointments. 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06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945D-530D-6F17-1FBC-53EB02ED3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Bolsia</a:t>
            </a:r>
            <a:r>
              <a:rPr lang="en-GB" dirty="0"/>
              <a:t> Familia patients miss more appointments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4DEB-FF25-18A0-B24F-2B10C55CF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D8D66-C79A-ACD5-965B-8AF5B231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524" y="1376218"/>
            <a:ext cx="4640894" cy="54817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9F5959-8734-BEF3-6A4B-467421F38F5A}"/>
              </a:ext>
            </a:extLst>
          </p:cNvPr>
          <p:cNvSpPr/>
          <p:nvPr/>
        </p:nvSpPr>
        <p:spPr>
          <a:xfrm>
            <a:off x="766618" y="1825625"/>
            <a:ext cx="5089236" cy="43513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Patients enrolled in </a:t>
            </a:r>
            <a:r>
              <a:rPr lang="en-GB" b="1" dirty="0"/>
              <a:t>Bolsa Família </a:t>
            </a:r>
            <a:r>
              <a:rPr lang="en-GB" dirty="0"/>
              <a:t>— Brazil's conditional cash transfer program — show consistently higher no-show rates. Structural barriers: transportation costs, work conflicts, childcare, or limited access to communication might be causing them to miss appointments.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946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0B1F-B6C7-AA85-83E8-96DD6E2C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08"/>
            <a:ext cx="10515600" cy="1325563"/>
          </a:xfrm>
        </p:spPr>
        <p:txBody>
          <a:bodyPr/>
          <a:lstStyle/>
          <a:p>
            <a:r>
              <a:rPr lang="en-GB" dirty="0" err="1"/>
              <a:t>Neighborhoods</a:t>
            </a:r>
            <a:r>
              <a:rPr lang="en-GB" dirty="0"/>
              <a:t> Show Dramatic 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72DF-0EF0-102B-62C5-1FD1687D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F3D54-2FA8-0900-5E9F-DA411DA3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2053"/>
            <a:ext cx="12192000" cy="36534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A24037-65CE-35D6-E829-8256C10C8585}"/>
              </a:ext>
            </a:extLst>
          </p:cNvPr>
          <p:cNvSpPr/>
          <p:nvPr/>
        </p:nvSpPr>
        <p:spPr>
          <a:xfrm>
            <a:off x="838200" y="1415619"/>
            <a:ext cx="10594110" cy="14922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Santos Dumont</a:t>
            </a:r>
            <a:r>
              <a:rPr lang="en-GB" dirty="0"/>
              <a:t> leads with a </a:t>
            </a:r>
            <a:r>
              <a:rPr lang="en-GB" b="1" dirty="0">
                <a:effectLst/>
              </a:rPr>
              <a:t>29% no-show rate</a:t>
            </a:r>
            <a:r>
              <a:rPr lang="en-GB" dirty="0"/>
              <a:t> — nearly 50% higher than the overall average. Nearby </a:t>
            </a:r>
            <a:r>
              <a:rPr lang="en-GB" dirty="0" err="1"/>
              <a:t>neighborhoods</a:t>
            </a:r>
            <a:r>
              <a:rPr lang="en-GB" dirty="0"/>
              <a:t> like Santa Clara also show elevated rates, suggesting localized barriers such as transportation access, safety concerns, or clinic proximity.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98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4B81-7BC5-5649-6A07-93A75E79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7493"/>
            <a:ext cx="10515600" cy="1325563"/>
          </a:xfrm>
        </p:spPr>
        <p:txBody>
          <a:bodyPr/>
          <a:lstStyle/>
          <a:p>
            <a:r>
              <a:rPr lang="en-GB" dirty="0"/>
              <a:t>What can the clinic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09332-A14F-A05F-37C7-3C2243185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291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FB65D0-B390-753A-1244-56E28391FD45}"/>
              </a:ext>
            </a:extLst>
          </p:cNvPr>
          <p:cNvSpPr/>
          <p:nvPr/>
        </p:nvSpPr>
        <p:spPr>
          <a:xfrm>
            <a:off x="607290" y="1160031"/>
            <a:ext cx="4802909" cy="25210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Target Teenagers</a:t>
            </a:r>
          </a:p>
          <a:p>
            <a:r>
              <a:rPr lang="en-GB" dirty="0"/>
              <a:t>Launch dedicated SMS campaigns and follow-up calls for patients under 20, possibly involving parents or guardians.</a:t>
            </a:r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F614A1-E7BE-D146-F397-87E11047EBB8}"/>
              </a:ext>
            </a:extLst>
          </p:cNvPr>
          <p:cNvSpPr/>
          <p:nvPr/>
        </p:nvSpPr>
        <p:spPr>
          <a:xfrm>
            <a:off x="6661728" y="1160031"/>
            <a:ext cx="4461163" cy="25210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Reduce Wait Times</a:t>
            </a:r>
          </a:p>
          <a:p>
            <a:r>
              <a:rPr lang="en-GB" dirty="0"/>
              <a:t>Schedule appointments same-day or within 7 days. Longer gaps erode patient commitment and increase no-shows.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C5FB1E-AAC9-E6B8-AC83-EAACFAC83458}"/>
              </a:ext>
            </a:extLst>
          </p:cNvPr>
          <p:cNvSpPr/>
          <p:nvPr/>
        </p:nvSpPr>
        <p:spPr>
          <a:xfrm>
            <a:off x="607289" y="4110182"/>
            <a:ext cx="4802909" cy="23275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Support Bolsa Família Patients</a:t>
            </a:r>
          </a:p>
          <a:p>
            <a:r>
              <a:rPr lang="en-GB" dirty="0"/>
              <a:t>Proactively identify socioeconomic barriers — transportation, scheduling conflicts — and offer tailored support.</a:t>
            </a:r>
          </a:p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9FDB-6E0E-61B6-B564-16896ED19695}"/>
              </a:ext>
            </a:extLst>
          </p:cNvPr>
          <p:cNvSpPr/>
          <p:nvPr/>
        </p:nvSpPr>
        <p:spPr>
          <a:xfrm>
            <a:off x="6661727" y="4110182"/>
            <a:ext cx="4461163" cy="23183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Focus on High-Risk </a:t>
            </a:r>
            <a:r>
              <a:rPr lang="en-GB" b="1" dirty="0" err="1"/>
              <a:t>Neighborhoods</a:t>
            </a:r>
            <a:endParaRPr lang="en-GB" b="1" dirty="0"/>
          </a:p>
          <a:p>
            <a:r>
              <a:rPr lang="en-GB" dirty="0"/>
              <a:t>Direct additional outreach and resources to Santos Dumont and Santa Clara, where no-show rates are highest.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749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12CC-346A-D79E-19CC-F818E545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316C8-69B8-9F78-5C0C-D80B1A86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964" y="1690687"/>
            <a:ext cx="10515600" cy="41928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Limitations                                                    Next Steps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 err="1"/>
              <a:t>Note:A</a:t>
            </a:r>
            <a:r>
              <a:rPr lang="en-GB" i="1" dirty="0"/>
              <a:t> predictive, patient-</a:t>
            </a:r>
            <a:r>
              <a:rPr lang="en-GB" i="1" dirty="0" err="1"/>
              <a:t>centered</a:t>
            </a:r>
            <a:r>
              <a:rPr lang="en-GB" i="1" dirty="0"/>
              <a:t> approach can transform no-show reduction from reactive to proactive — saving resources and improving care access.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4E20C-6757-143D-8A50-92901220F75A}"/>
              </a:ext>
            </a:extLst>
          </p:cNvPr>
          <p:cNvSpPr/>
          <p:nvPr/>
        </p:nvSpPr>
        <p:spPr>
          <a:xfrm>
            <a:off x="914400" y="2309091"/>
            <a:ext cx="4128655" cy="62807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Data is from 2016 – demographics may have since shifted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5D126-06AA-43A0-565C-5815B683E226}"/>
              </a:ext>
            </a:extLst>
          </p:cNvPr>
          <p:cNvSpPr/>
          <p:nvPr/>
        </p:nvSpPr>
        <p:spPr>
          <a:xfrm>
            <a:off x="914400" y="3223490"/>
            <a:ext cx="4128655" cy="62807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No information on root causes of missed appointments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7B60B-8500-F9F4-0D37-2517D2235A1F}"/>
              </a:ext>
            </a:extLst>
          </p:cNvPr>
          <p:cNvSpPr/>
          <p:nvPr/>
        </p:nvSpPr>
        <p:spPr>
          <a:xfrm>
            <a:off x="905164" y="4137888"/>
            <a:ext cx="4137891" cy="62807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>
                <a:solidFill>
                  <a:schemeClr val="tx1"/>
                </a:solidFill>
              </a:rPr>
              <a:t>Covers only a few months of data, limiting seasonal insights</a:t>
            </a:r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4980D5-8B78-9BA7-F420-4743094C0724}"/>
              </a:ext>
            </a:extLst>
          </p:cNvPr>
          <p:cNvSpPr/>
          <p:nvPr/>
        </p:nvSpPr>
        <p:spPr>
          <a:xfrm>
            <a:off x="6299200" y="2309091"/>
            <a:ext cx="4331855" cy="6280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/>
              <a:t>Build a predictive model to flag high-risk patients before appointments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8E5D9-3122-B733-126F-360A125F8A7A}"/>
              </a:ext>
            </a:extLst>
          </p:cNvPr>
          <p:cNvSpPr/>
          <p:nvPr/>
        </p:nvSpPr>
        <p:spPr>
          <a:xfrm>
            <a:off x="6299200" y="3223489"/>
            <a:ext cx="4331855" cy="6280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/>
              <a:t>Collect </a:t>
            </a:r>
            <a:r>
              <a:rPr lang="en-GB" b="1" dirty="0"/>
              <a:t>patient feedback</a:t>
            </a:r>
            <a:r>
              <a:rPr lang="en-GB" dirty="0"/>
              <a:t> to understand why appointments are missed</a:t>
            </a:r>
          </a:p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CEDBB9-DD37-0CA4-3F23-B0D0DF19040F}"/>
              </a:ext>
            </a:extLst>
          </p:cNvPr>
          <p:cNvSpPr/>
          <p:nvPr/>
        </p:nvSpPr>
        <p:spPr>
          <a:xfrm>
            <a:off x="6299200" y="4137887"/>
            <a:ext cx="4331855" cy="6280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/>
              <a:t>Expand analysis to </a:t>
            </a:r>
            <a:r>
              <a:rPr lang="en-GB" b="1" dirty="0"/>
              <a:t>other cities</a:t>
            </a:r>
            <a:r>
              <a:rPr lang="en-GB" dirty="0"/>
              <a:t> for broader comparison and generalizability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662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529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Reducing Missed Appointments in Brazilian Public Health Clinics</vt:lpstr>
      <vt:lpstr>A problem wasting resources every day</vt:lpstr>
      <vt:lpstr>PowerPoint Presentation</vt:lpstr>
      <vt:lpstr>Key Findings</vt:lpstr>
      <vt:lpstr>Teenagers miss the most appointments</vt:lpstr>
      <vt:lpstr>Longer wait times drive higher no-show rates </vt:lpstr>
      <vt:lpstr>Bolsia Familia patients miss more appointments </vt:lpstr>
      <vt:lpstr>Neighborhoods Show Dramatic Variation</vt:lpstr>
      <vt:lpstr>What can the clinic do?</vt:lpstr>
      <vt:lpstr>Limitations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Wagle</dc:creator>
  <cp:lastModifiedBy>Suyog Wagle</cp:lastModifiedBy>
  <cp:revision>6</cp:revision>
  <dcterms:created xsi:type="dcterms:W3CDTF">2026-06-11T15:19:27Z</dcterms:created>
  <dcterms:modified xsi:type="dcterms:W3CDTF">2026-06-11T16:26:52Z</dcterms:modified>
</cp:coreProperties>
</file>